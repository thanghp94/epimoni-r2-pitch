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· TITLE — Cold open — 9pm at Minh's table</a:t>
            </a:r>
          </a:p>
          <a:p>
            <a:pPr>
              <a:defRPr sz="1200"/>
            </a:pPr>
            <a:r>
              <a:t>Speaker: DN · 0:35</a:t>
            </a:r>
          </a:p>
          <a:p>
            <a:pPr>
              <a:defRPr sz="1200"/>
            </a:pPr>
            <a:r>
              <a:t>Cue: Let the lines type. Speak slowly — you are the user, that is your advantage.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It is 9pm in Hanoi. Minh has a science test tomorrow — forty pages of notes.</a:t>
            </a:r>
          </a:p>
          <a:p>
            <a:pPr>
              <a:defRPr sz="1200"/>
            </a:pPr>
            <a:r>
              <a:t>In the next tab, ChatGPT will do all of it for him. At the table, Mom is quizzing him — with four apps that do not help.</a:t>
            </a:r>
          </a:p>
          <a:p>
            <a:pPr>
              <a:defRPr sz="1200"/>
            </a:pPr>
            <a:r>
              <a:t>Minh is not lazy. Minh is us. Mom is doing her best.</a:t>
            </a:r>
          </a:p>
          <a:p>
            <a:pPr>
              <a:defRPr sz="1200"/>
            </a:pPr>
            <a:r>
              <a:t>These tools are teaching him to stop thinking. We built the fix for both of them.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Backup direct open: "The best students in Vietnam are most at risk. We are 13 and 14, and we built the fix."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 · PROBLEM 1/2 — Two struggles at one table.</a:t>
            </a:r>
          </a:p>
          <a:p>
            <a:pPr>
              <a:defRPr sz="1200"/>
            </a:pPr>
            <a:r>
              <a:t>Speaker: DN · 0:45</a:t>
            </a:r>
          </a:p>
          <a:p>
            <a:pPr>
              <a:defRPr sz="1200"/>
            </a:pPr>
            <a:r>
              <a:t>Cue: Left card is the kid. Right card is Mom. Land the doubt line at the bottom.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Look at one dinner table. Two struggles.</a:t>
            </a:r>
          </a:p>
          <a:p>
            <a:pPr>
              <a:defRPr sz="1200"/>
            </a:pPr>
            <a:r>
              <a:t>Left: Minh. Test tomorrow — and ChatGPT answers in one second. But did he learn anything? Nobody knows. That doubt is the problem.</a:t>
            </a:r>
          </a:p>
          <a:p>
            <a:pPr>
              <a:defRPr sz="1200"/>
            </a:pPr>
            <a:r>
              <a:t>Right: Mom. Four paid apps, none connected. She still quizzes him by hand — paying more every year for less.</a:t>
            </a:r>
          </a:p>
          <a:p>
            <a:pPr>
              <a:defRPr sz="1200"/>
            </a:pPr>
            <a:r>
              <a:t>Instant answers look fast — but they leave a doubt no parent can answer: is this real, or borrowed?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Research chip: Zhai et al., 2024 — AI overreliance weakens critical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S3 · PROBLEM 2/2 — Top marks. Empty learning.</a:t>
            </a:r>
          </a:p>
          <a:p>
            <a:pPr>
              <a:defRPr sz="1200"/>
            </a:pPr>
            <a:r>
              <a:t>Speaker: DN · 0:50</a:t>
            </a:r>
          </a:p>
          <a:p>
            <a:pPr>
              <a:defRPr sz="1200"/>
            </a:pPr>
            <a:r>
              <a:t>Cue: Walk the 2×2, land on the Paradox Zone, click it to reveal the three costs.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Here is the strange part. On paper, Minh is a top student.</a:t>
            </a:r>
          </a:p>
          <a:p>
            <a:pPr>
              <a:defRPr sz="1200"/>
            </a:pPr>
            <a:r>
              <a:t>Grades go right, real learning goes up. Bottom right: the Paradox Zone — top marks, drilled, brittle. That is where Minh lives. [click]</a:t>
            </a:r>
          </a:p>
          <a:p>
            <a:pPr>
              <a:defRPr sz="1200"/>
            </a:pPr>
            <a:r>
              <a:t>Three invisible costs: burnout nobody sees, practice that breaks when the problem changes, and AI-dependence.</a:t>
            </a:r>
          </a:p>
          <a:p>
            <a:pPr>
              <a:defRPr sz="1200"/>
            </a:pPr>
            <a:r>
              <a:t>Kids do not need more content. They need to want it — and know how to chase it.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This is the SE Asian paradox: high marks, thin understanding, highest tutoring spend in the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S4 · SOLUTION 1/2 — We don't give answers. We run 5-minute quests.</a:t>
            </a:r>
          </a:p>
          <a:p>
            <a:pPr>
              <a:defRPr sz="1200"/>
            </a:pPr>
            <a:r>
              <a:t>Speaker: GM · 0:50</a:t>
            </a:r>
          </a:p>
          <a:p>
            <a:pPr>
              <a:defRPr sz="1200"/>
            </a:pPr>
            <a:r>
              <a:t>Cue: The countdown starts now and keeps running through the next slides — point at it.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So the real question is not how to give better answers. It is how to protect the question.</a:t>
            </a:r>
          </a:p>
          <a:p>
            <a:pPr>
              <a:defRPr sz="1200"/>
            </a:pPr>
            <a:r>
              <a:t>Our answer: we do not give answers. We run five-minute quests.</a:t>
            </a:r>
          </a:p>
          <a:p>
            <a:pPr>
              <a:defRPr sz="1200"/>
            </a:pPr>
            <a:r>
              <a:t>One quest. One goal. Five minutes. Not a compromise — one complete rep.</a:t>
            </a:r>
          </a:p>
          <a:p>
            <a:pPr>
              <a:defRPr sz="1200"/>
            </a:pPr>
            <a:r>
              <a:t>Three promises to a parent: learn faster, one real rep a day. Less time, five minutes then done. Move ahead faster, every quest levels up.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Rule of three: predict · struggle · 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S5 · SOLUTION 2/2 — Ask for the answer. Watch the shield.</a:t>
            </a:r>
          </a:p>
          <a:p>
            <a:pPr>
              <a:defRPr sz="1200"/>
            </a:pPr>
            <a:r>
              <a:t>Speaker: GM · 1:35</a:t>
            </a:r>
          </a:p>
          <a:p>
            <a:pPr>
              <a:defRPr sz="1200"/>
            </a:pPr>
            <a:r>
              <a:t>Cue: Same question, two windows. Let the chat play. MATH tab top-left if a judge asks about other subjects.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Do not take my word for it. Same question. Two futures.</a:t>
            </a:r>
          </a:p>
          <a:p>
            <a:pPr>
              <a:defRPr sz="1200"/>
            </a:pPr>
            <a:r>
              <a:t>Left: generic AI — full answer in under a second. Struggle skipped. Learning unverified.</a:t>
            </a:r>
          </a:p>
          <a:p>
            <a:pPr>
              <a:defRPr sz="1200"/>
            </a:pPr>
            <a:r>
              <a:t>Right: Epimoni. He begs for the answer. The Shield gives a hint, then a guiding question — never the answer.</a:t>
            </a:r>
          </a:p>
          <a:p>
            <a:pPr>
              <a:defRPr sz="1200"/>
            </a:pPr>
            <a:r>
              <a:t>He tries again and gets it himself. The reward is for the struggle, not the click.</a:t>
            </a:r>
          </a:p>
          <a:p>
            <a:pPr>
              <a:defRPr sz="1200"/>
            </a:pPr>
            <a:r>
              <a:t>Below: rep, XP, character, gear, tomorrow's quest — his level is his learning.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Longest slide. Math tab: student guesses 2/5 — the shield catches the wrong idea, not just the wrong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S6 · MARKET OPPORTUNITY — Learning apps are big. At home, they sit unused.</a:t>
            </a:r>
          </a:p>
          <a:p>
            <a:pPr>
              <a:defRPr sz="1200"/>
            </a:pPr>
            <a:r>
              <a:t>Speaker: TC · 0:45</a:t>
            </a:r>
          </a:p>
          <a:p>
            <a:pPr>
              <a:defRPr sz="1200"/>
            </a:pPr>
            <a:r>
              <a:t>Cue: Every number is an estimate — say so. The point is paid for ≠ learned.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Now the market. Learning apps are big business. Quizizz earns about thirty million dollars a year. Kahoot, about a hundred ninety million. IXL has seventeen million students.</a:t>
            </a:r>
          </a:p>
          <a:p>
            <a:pPr>
              <a:defRPr sz="1200"/>
            </a:pPr>
            <a:r>
              <a:t>Together with tutors and AI tools — more than a billion dollars a year.</a:t>
            </a:r>
          </a:p>
          <a:p>
            <a:pPr>
              <a:defRPr sz="1200"/>
            </a:pPr>
            <a:r>
              <a:t>But at home, the tablets collect dust. Four apps, four logins, nobody connecting them. Mom becomes the system, every night.</a:t>
            </a:r>
          </a:p>
          <a:p>
            <a:pPr>
              <a:defRPr sz="1200"/>
            </a:pPr>
            <a:r>
              <a:t>Paid for is not the same as learned.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Scores Market Opportunity. If asked for sources: company reports and public user counts, labeled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S7 · TARGET MARKET — Who pays first.</a:t>
            </a:r>
          </a:p>
          <a:p>
            <a:pPr>
              <a:defRPr sz="1200"/>
            </a:pPr>
            <a:r>
              <a:t>Speaker: TC · 0:50</a:t>
            </a:r>
          </a:p>
          <a:p>
            <a:pPr>
              <a:defRPr sz="1200"/>
            </a:pPr>
            <a:r>
              <a:t>Cue: Walk the funnel top to bottom. Numbers labeled est.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So who pays first? Hungry parents.</a:t>
            </a:r>
          </a:p>
          <a:p>
            <a:pPr>
              <a:defRPr sz="1200"/>
            </a:pPr>
            <a:r>
              <a:t>[walk funnel] Sixteen million K-12 students. Private, bilingual, homeschool — three to five hundred thousand. Parent groups — twenty to fifty thousand. First stop: one to two hundred families.</a:t>
            </a:r>
          </a:p>
          <a:p>
            <a:pPr>
              <a:defRPr sz="1200"/>
            </a:pPr>
            <a:r>
              <a:t>If one in a hundred joins: three to five thousand subscribers, seven to twelve billion dong a year. Estimated.</a:t>
            </a:r>
          </a:p>
          <a:p>
            <a:pPr>
              <a:defRPr sz="1200"/>
            </a:pPr>
            <a:r>
              <a:t>Vietnamese families already spend a fifth of their income on education — the highest in the region.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TAM/SAM/SOM: say the plain words first — everyone, our kind of families, families we can actually 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S8 · MARKETING STRATEGY — Real students sell it. Not ads.</a:t>
            </a:r>
          </a:p>
          <a:p>
            <a:pPr>
              <a:defRPr sz="1200"/>
            </a:pPr>
            <a:r>
              <a:t>Speaker: TC · 0:50</a:t>
            </a:r>
          </a:p>
          <a:p>
            <a:pPr>
              <a:defRPr sz="1200"/>
            </a:pPr>
            <a:r>
              <a:t>Cue: Three channels, zero ad spend. This is a scored section — say the budget line clearly.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How do we reach them without ads? Students.</a:t>
            </a:r>
          </a:p>
          <a:p>
            <a:pPr>
              <a:defRPr sz="1200"/>
            </a:pPr>
            <a:r>
              <a:t>One: our pilot kids are the influencers — real before-and-after clips, top marks without suffering. Not actors.</a:t>
            </a:r>
          </a:p>
          <a:p>
            <a:pPr>
              <a:defRPr sz="1200"/>
            </a:pPr>
            <a:r>
              <a:t>Two: parent ambassadors. Bring another family, get a free month — inside the homeschool groups where parents already talk.</a:t>
            </a:r>
          </a:p>
          <a:p>
            <a:pPr>
              <a:defRPr sz="1200"/>
            </a:pPr>
            <a:r>
              <a:t>Three: a weekly community quest and a public leaderboard. The screenshots are our marketing.</a:t>
            </a:r>
          </a:p>
          <a:p>
            <a:pPr>
              <a:defRPr sz="1200"/>
            </a:pPr>
            <a:r>
              <a:t>Marketing budget: about zero dollars. Our cost is time — three hours a week.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Judges like this: real users as KOLs beats paid ads for trust in this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S9 · SALES STRATEGY — Win where ambitious kids already compete.</a:t>
            </a:r>
          </a:p>
          <a:p>
            <a:pPr>
              <a:defRPr sz="1200"/>
            </a:pPr>
            <a:r>
              <a:t>Speaker: LH · 0:55</a:t>
            </a:r>
          </a:p>
          <a:p>
            <a:pPr>
              <a:defRPr sz="1200"/>
            </a:pPr>
            <a:r>
              <a:t>Cue: Three motions: competition seats, 5-year plan, bundles. Deliver the pricing clearly.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We sell where ambitious kids already are: competitions.</a:t>
            </a:r>
          </a:p>
          <a:p>
            <a:pPr>
              <a:defRPr sz="1200"/>
            </a:pPr>
            <a:r>
              <a:t>We sponsor quest packs for finalists at Math, Science and English competitions — Fermat, Geniusstar Vietnam and similar. A scholarship and a sales funnel in one.</a:t>
            </a:r>
          </a:p>
          <a:p>
            <a:pPr>
              <a:defRPr sz="1200"/>
            </a:pPr>
            <a:r>
              <a:t>Then the five-year founding plan: ten million dong once — about four hundred dollars — instead of paying month by month.</a:t>
            </a:r>
          </a:p>
          <a:p>
            <a:pPr>
              <a:defRPr sz="1200"/>
            </a:pPr>
            <a:r>
              <a:t>Bundles: one subject ninety-nine thousand a month; family plan a hundred ninety-nine.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If asked about Fermat/Geniusstar: we sponsor seats with them, we do not run the competitions.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S10 · REVENUE STREAMS — One plan replaces the pile.</a:t>
            </a:r>
          </a:p>
          <a:p>
            <a:pPr>
              <a:defRPr sz="1200"/>
            </a:pPr>
            <a:r>
              <a:t>Speaker: LH · 0:50</a:t>
            </a:r>
          </a:p>
          <a:p>
            <a:pPr>
              <a:defRPr sz="1200"/>
            </a:pPr>
            <a:r>
              <a:t>Cue: Deliver the stack math cold — this is a scored section.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Today a family pays forty to eighty dollars a month across four or more apps — and Mom connects it by hand.</a:t>
            </a:r>
          </a:p>
          <a:p>
            <a:pPr>
              <a:defRPr sz="1200"/>
            </a:pPr>
            <a:r>
              <a:t>Epimoni is one family plan: about a hundred ninety-nine thousand VND a month. Every subject, every kid, one login.</a:t>
            </a:r>
          </a:p>
          <a:p>
            <a:pPr>
              <a:defRPr sz="1200"/>
            </a:pPr>
            <a:r>
              <a:t>One quest costs us a few cents of AI. That is why the price works.</a:t>
            </a:r>
          </a:p>
          <a:p>
            <a:pPr>
              <a:defRPr sz="1200"/>
            </a:pPr>
            <a:r>
              <a:t>Year one: a thousand families is about two point four billion dong. Estimated.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Expect "replace IXL? you are four students" — we connect the pile instead of out-writing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S11 · COMPETITION — We connect the pile — we do not out-content it.</a:t>
            </a:r>
          </a:p>
          <a:p>
            <a:pPr>
              <a:defRPr sz="1200"/>
            </a:pPr>
            <a:r>
              <a:t>Speaker: GM · 0:45</a:t>
            </a:r>
          </a:p>
          <a:p>
            <a:pPr>
              <a:defRPr sz="1200"/>
            </a:pPr>
            <a:r>
              <a:t>Cue: Read the table down the rows. The last row is the honest one — say it with confidence.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Khan has the lessons — we coach the struggle through them. IXL drills what you know — we fix why you are stuck. Duolingo rewards showing up — we reward thinking hard. ChatGPT hands over the answer — we hand the next hint.</a:t>
            </a:r>
          </a:p>
          <a:p>
            <a:pPr>
              <a:defRPr sz="1200"/>
            </a:pPr>
            <a:r>
              <a:t>And if a big company copies the code? The hard part is not code — it is our teacher-checked lists of wrong ideas, and our pilot proof.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Scores Competition. Keep the table short — one line per rival.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S12 · CLIENT RETENTION — Why kids come back tomorrow.</a:t>
            </a:r>
          </a:p>
          <a:p>
            <a:pPr>
              <a:defRPr sz="1200"/>
            </a:pPr>
            <a:r>
              <a:t>Speaker: GM · 0:45</a:t>
            </a:r>
          </a:p>
          <a:p>
            <a:pPr>
              <a:defRPr sz="1200"/>
            </a:pPr>
            <a:r>
              <a:t>Cue: Left: the come-back loop. Right: the three retention facts. This is a scored section.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The loop: one rep, Struggle XP, character, gear — and tomorrow's quest. No pay-to-skip, no streak punishment. Kids come back because it ends.</a:t>
            </a:r>
          </a:p>
          <a:p>
            <a:pPr>
              <a:defRPr sz="1200"/>
            </a:pPr>
            <a:r>
              <a:t>Quests run Grade 3 to Grade 9 — finishing a grade unlocks the next. Every school year is a renewal, not a goodbye.</a:t>
            </a:r>
          </a:p>
          <a:p>
            <a:pPr>
              <a:defRPr sz="1200"/>
            </a:pPr>
            <a:r>
              <a:t>One plan covers more subjects and more kids. The average family stays two and a half years — seven million dong — and arrives through a referral.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If asked about churn: the dashboard history and siblings raise the cost of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S13 · MANAGEMENT TEAM — Four students. One teacher. A working product.</a:t>
            </a:r>
          </a:p>
          <a:p>
            <a:pPr>
              <a:defRPr sz="1200"/>
            </a:pPr>
            <a:r>
              <a:t>Speaker: ALL · 0:40</a:t>
            </a:r>
          </a:p>
          <a:p>
            <a:pPr>
              <a:defRPr sz="1200"/>
            </a:pPr>
            <a:r>
              <a:t>Cue: Four names, four roles, one mentor — then point at the real screenshot.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Who are we? Four students, four schools, one teacher.</a:t>
            </a:r>
          </a:p>
          <a:p>
            <a:pPr>
              <a:defRPr sz="1200"/>
            </a:pPr>
            <a:r>
              <a:t>Duc Nguyen — customer insight; he is homeschooled himself. Gia Minh — how the learning system works. Le Hoang — finance. Thao Chi — story and user research.</a:t>
            </a:r>
          </a:p>
          <a:p>
            <a:pPr>
              <a:defRPr sz="1200"/>
            </a:pPr>
            <a:r>
              <a:t>Mentor: Nguyễn Như Hà. In eight weeks we shipped a live quest, teacher-checked wrong-idea lists, the Answer Shield, and a pilot plan.</a:t>
            </a:r>
          </a:p>
          <a:p>
            <a:pPr>
              <a:defRPr sz="1200"/>
            </a:pPr>
            <a:r>
              <a:t>Round one was a design. Round two is a product.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Scores Team. Say the mentor name clearly — credibility for a student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S14 · 5-YEAR FORECAST — Small and honest. Then steady.</a:t>
            </a:r>
          </a:p>
          <a:p>
            <a:pPr>
              <a:defRPr sz="1200"/>
            </a:pPr>
            <a:r>
              <a:t>Speaker: LH · 0:50</a:t>
            </a:r>
          </a:p>
          <a:p>
            <a:pPr>
              <a:defRPr sz="1200"/>
            </a:pPr>
            <a:r>
              <a:t>Cue: Walk the bars left to right. Say "estimates" out loud.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Our five-year forecast is small and honest.</a:t>
            </a:r>
          </a:p>
          <a:p>
            <a:pPr>
              <a:defRPr sz="1200"/>
            </a:pPr>
            <a:r>
              <a:t>Year one is the pilot: one thousand families, about two point four billion dong — roughly breakeven, because every dong goes back into content.</a:t>
            </a:r>
          </a:p>
          <a:p>
            <a:pPr>
              <a:defRPr sz="1200"/>
            </a:pPr>
            <a:r>
              <a:t>Then three thousand families, seven thousand, twelve thousand, eighteen thousand — about forty-five billion dong by year five. Growth slows on purpose; we are four students.</a:t>
            </a:r>
          </a:p>
          <a:p>
            <a:pPr>
              <a:defRPr sz="1200"/>
            </a:pPr>
            <a:r>
              <a:t>Costs grow with content, not headcount.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All figures estimates. If challenged: pilot data this term will replace these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S15 · CAPITAL NEEDS — We proved it for $300. Now we ask $25,000.</a:t>
            </a:r>
          </a:p>
          <a:p>
            <a:pPr>
              <a:defRPr sz="1200"/>
            </a:pPr>
            <a:r>
              <a:t>Speaker: LH · 0:45</a:t>
            </a:r>
          </a:p>
          <a:p>
            <a:pPr>
              <a:defRPr sz="1200"/>
            </a:pPr>
            <a:r>
              <a:t>Cue: Left: what we proved. Right: the ask and the split. Most of it is not tech — land that.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Our whole pilot cost under three hundred dollars — this deck is the proof.</a:t>
            </a:r>
          </a:p>
          <a:p>
            <a:pPr>
              <a:defRPr sz="1200"/>
            </a:pPr>
            <a:r>
              <a:t>We are asking for twenty-five thousand dollars — twelve to eighteen months of runway.</a:t>
            </a:r>
          </a:p>
          <a:p>
            <a:pPr>
              <a:defRPr sz="1200"/>
            </a:pPr>
            <a:r>
              <a:t>Forty percent pays teachers to build the wrong-idea lists. Twenty-five percent covers hosting and AI. Twenty percent sponsors competition seats. Ten percent builds the community. Five percent is buffer.</a:t>
            </a:r>
          </a:p>
          <a:p>
            <a:pPr>
              <a:defRPr sz="1200"/>
            </a:pPr>
            <a:r>
              <a:t>Most of it is not technology — it is paying teachers to check what our AI writes.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Scores Capital Needs. If asked "why so little": we are four students with zero salaries.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S16 · EXIT &amp; CLOSE — Three honest doors — and one different tab.</a:t>
            </a:r>
          </a:p>
          <a:p>
            <a:pPr>
              <a:defRPr sz="1200"/>
            </a:pPr>
            <a:r>
              <a:t>Speaker: DN · 0:40</a:t>
            </a:r>
          </a:p>
          <a:p>
            <a:pPr>
              <a:defRPr sz="1200"/>
            </a:pPr>
            <a:r>
              <a:t>Cue: Three doors, then the callback — hold the callback no matter the clock.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We are not promising a unicorn. Three honest doors.</a:t>
            </a:r>
          </a:p>
          <a:p>
            <a:pPr>
              <a:defRPr sz="1200"/>
            </a:pPr>
            <a:r>
              <a:t>A bigger edtech could buy our community. Schools could license our wrong-idea lists. Or we keep it — by year five it runs itself.</a:t>
            </a:r>
          </a:p>
          <a:p>
            <a:pPr>
              <a:defRPr sz="1200"/>
            </a:pPr>
            <a:r>
              <a:t>Remember Minh? Tonight he opens a different tab — one that hands him a quest, not answers. And Mom keeps one app, not four.</a:t>
            </a:r>
          </a:p>
          <a:p>
            <a:pPr>
              <a:defRPr sz="1200"/>
            </a:pPr>
            <a:r>
              <a:t>In a world of free answers, we coach the struggle that makes learning stick. Thank you — questions welcome.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Tip: Designated compress slide if the clock runs long — keep the callback and the spine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